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3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89205"/>
  </p:normalViewPr>
  <p:slideViewPr>
    <p:cSldViewPr snapToGrid="0" snapToObjects="1">
      <p:cViewPr varScale="1">
        <p:scale>
          <a:sx n="100" d="100"/>
          <a:sy n="100" d="100"/>
        </p:scale>
        <p:origin x="184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5676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Join us in our journey to develop a safe, affordable and effective treatment to prevent Alzheimer’s disease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585216"/>
            <a:ext cx="201168" cy="0"/>
          </a:xfrm>
          <a:prstGeom prst="line">
            <a:avLst/>
          </a:prstGeom>
          <a:noFill/>
          <a:ln w="19050">
            <a:solidFill>
              <a:srgbClr val="456B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4672" y="4754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82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 a safe, effective, early intervention for Alzheimer’s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 flipV="1">
            <a:off x="713907" y="2018479"/>
            <a:ext cx="11112333" cy="58952"/>
          </a:xfrm>
          <a:prstGeom prst="line">
            <a:avLst/>
          </a:prstGeom>
          <a:noFill/>
          <a:ln w="19050">
            <a:solidFill>
              <a:srgbClr val="456B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26457" y="1798643"/>
            <a:ext cx="566726" cy="566726"/>
          </a:xfrm>
          <a:prstGeom prst="ellipse">
            <a:avLst/>
          </a:prstGeom>
          <a:solidFill>
            <a:srgbClr val="456BB7"/>
          </a:solidFill>
          <a:ln w="31750">
            <a:solidFill>
              <a:srgbClr val="456B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39" y="2435006"/>
            <a:ext cx="3612881" cy="531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2019–2024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39" y="2788549"/>
            <a:ext cx="3612881" cy="70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506244" y="1779494"/>
            <a:ext cx="566726" cy="566726"/>
          </a:xfrm>
          <a:prstGeom prst="ellipse">
            <a:avLst/>
          </a:prstGeom>
          <a:solidFill>
            <a:srgbClr val="456BB7"/>
          </a:solidFill>
          <a:ln w="31750">
            <a:solidFill>
              <a:srgbClr val="456B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53867" y="2435006"/>
            <a:ext cx="3612881" cy="531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2024–2025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53867" y="2788549"/>
            <a:ext cx="3612881" cy="70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Strain evolution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973482" y="1798643"/>
            <a:ext cx="566726" cy="566726"/>
          </a:xfrm>
          <a:prstGeom prst="ellipse">
            <a:avLst/>
          </a:prstGeom>
          <a:solidFill>
            <a:srgbClr val="456BB7"/>
          </a:solidFill>
          <a:ln w="31750">
            <a:solidFill>
              <a:srgbClr val="456B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33944" y="2435006"/>
            <a:ext cx="1312216" cy="531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2025–2026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02837" y="2788549"/>
            <a:ext cx="1522965" cy="70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pilot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151160" y="1795999"/>
            <a:ext cx="566726" cy="566726"/>
          </a:xfrm>
          <a:prstGeom prst="ellipse">
            <a:avLst/>
          </a:prstGeom>
          <a:solidFill>
            <a:srgbClr val="E2E9F4"/>
          </a:solidFill>
          <a:ln w="31750">
            <a:solidFill>
              <a:srgbClr val="456B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610414" y="2435006"/>
            <a:ext cx="1930809" cy="531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2026–2027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10414" y="2788549"/>
            <a:ext cx="2526027" cy="70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trial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10551860" y="1729017"/>
            <a:ext cx="566726" cy="566726"/>
          </a:xfrm>
          <a:prstGeom prst="ellipse">
            <a:avLst/>
          </a:prstGeom>
          <a:solidFill>
            <a:srgbClr val="F7F5F0"/>
          </a:solidFill>
          <a:ln w="31750">
            <a:solidFill>
              <a:srgbClr val="456B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109191" y="2435006"/>
            <a:ext cx="1674353" cy="531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2027–2029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64180" y="2788548"/>
            <a:ext cx="2027078" cy="136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RCT in Alzheimer’s</a:t>
            </a:r>
          </a:p>
          <a:p>
            <a:pPr marL="0" indent="0" algn="ctr">
              <a:buNone/>
            </a:pPr>
            <a:r>
              <a:rPr lang="en-US" sz="2000" b="1" dirty="0">
                <a:solidFill>
                  <a:srgbClr val="1A1A18"/>
                </a:solidFill>
                <a:latin typeface="Calibri" pitchFamily="34" charset="0"/>
                <a:cs typeface="Calibri" pitchFamily="34" charset="-120"/>
              </a:rPr>
              <a:t>+ </a:t>
            </a:r>
          </a:p>
          <a:p>
            <a:pPr marL="0" indent="0" algn="ctr">
              <a:buNone/>
            </a:pPr>
            <a:r>
              <a:rPr lang="en-US" sz="2000" b="1" dirty="0">
                <a:solidFill>
                  <a:srgbClr val="1A1A18"/>
                </a:solidFill>
                <a:latin typeface="Calibri" pitchFamily="34" charset="0"/>
                <a:cs typeface="Calibri" pitchFamily="34" charset="-120"/>
              </a:rPr>
              <a:t>Marketing</a:t>
            </a:r>
            <a:endParaRPr lang="en-US" sz="2000" dirty="0"/>
          </a:p>
        </p:txBody>
      </p:sp>
      <p:pic>
        <p:nvPicPr>
          <p:cNvPr id="32" name="Picture 31" descr="onecarbon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4924" y="256032"/>
            <a:ext cx="611316" cy="50292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56EBFB8-C06D-EF25-BA22-47F605D358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698" y="3946795"/>
            <a:ext cx="2282541" cy="769361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3EFBFA2-1FFB-115B-3F22-942B45C251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700" y="3319855"/>
            <a:ext cx="2282541" cy="74538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98940554-DC13-0278-73DC-3A2201B7D80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2338" t="10672" r="10603" b="15199"/>
          <a:stretch>
            <a:fillRect/>
          </a:stretch>
        </p:blipFill>
        <p:spPr>
          <a:xfrm>
            <a:off x="2695786" y="3496957"/>
            <a:ext cx="2378969" cy="147925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DFBF3309-DC59-AE1B-CFB5-D51603E43CD0}"/>
              </a:ext>
            </a:extLst>
          </p:cNvPr>
          <p:cNvSpPr txBox="1"/>
          <p:nvPr/>
        </p:nvSpPr>
        <p:spPr>
          <a:xfrm>
            <a:off x="176410" y="4741780"/>
            <a:ext cx="2224749" cy="1940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900" b="1" dirty="0"/>
              <a:t>Yu</a:t>
            </a:r>
            <a:r>
              <a:rPr lang="en-GB" sz="900" dirty="0"/>
              <a:t> et al., 2025, PMID: 41102145</a:t>
            </a:r>
            <a:endParaRPr lang="en-US" sz="900" dirty="0"/>
          </a:p>
          <a:p>
            <a:pPr algn="ctr">
              <a:lnSpc>
                <a:spcPct val="150000"/>
              </a:lnSpc>
            </a:pPr>
            <a:r>
              <a:rPr lang="en-GB" sz="900" b="1" dirty="0"/>
              <a:t>Yu</a:t>
            </a:r>
            <a:r>
              <a:rPr lang="en-GB" sz="900" dirty="0"/>
              <a:t> et al., 2026, </a:t>
            </a:r>
            <a:r>
              <a:rPr lang="en-GB" sz="900" i="1" dirty="0"/>
              <a:t>In revision</a:t>
            </a:r>
            <a:endParaRPr lang="en-GB" sz="900" b="1" dirty="0"/>
          </a:p>
          <a:p>
            <a:pPr algn="ctr">
              <a:lnSpc>
                <a:spcPct val="150000"/>
              </a:lnSpc>
            </a:pPr>
            <a:r>
              <a:rPr lang="en-GB" sz="900" b="1" dirty="0"/>
              <a:t>Yu</a:t>
            </a:r>
            <a:r>
              <a:rPr lang="en-GB" sz="900" dirty="0"/>
              <a:t> et al., 2024, PMID: 39582067</a:t>
            </a:r>
          </a:p>
          <a:p>
            <a:pPr algn="ctr">
              <a:lnSpc>
                <a:spcPct val="150000"/>
              </a:lnSpc>
            </a:pPr>
            <a:r>
              <a:rPr lang="en-GB" sz="900" b="1" dirty="0"/>
              <a:t>Yu</a:t>
            </a:r>
            <a:r>
              <a:rPr lang="en-GB" sz="900" dirty="0"/>
              <a:t> &amp; Martins, 2024, PMID: 38928008</a:t>
            </a:r>
            <a:endParaRPr lang="en-US" sz="900" dirty="0"/>
          </a:p>
          <a:p>
            <a:pPr algn="ctr">
              <a:lnSpc>
                <a:spcPct val="150000"/>
              </a:lnSpc>
            </a:pPr>
            <a:r>
              <a:rPr lang="en-GB" sz="900" b="1" dirty="0"/>
              <a:t>Yu</a:t>
            </a:r>
            <a:r>
              <a:rPr lang="en-GB" sz="900" dirty="0"/>
              <a:t> et al., 2019, PMID: 34172715</a:t>
            </a:r>
          </a:p>
          <a:p>
            <a:pPr algn="ctr">
              <a:lnSpc>
                <a:spcPct val="150000"/>
              </a:lnSpc>
            </a:pPr>
            <a:r>
              <a:rPr lang="en-GB" sz="900" b="1" dirty="0"/>
              <a:t>Yu</a:t>
            </a:r>
            <a:r>
              <a:rPr lang="en-GB" sz="900" dirty="0"/>
              <a:t> &amp; Popovic et al., 2023, PMID: 37083954</a:t>
            </a:r>
          </a:p>
          <a:p>
            <a:pPr algn="ctr">
              <a:lnSpc>
                <a:spcPct val="150000"/>
              </a:lnSpc>
            </a:pPr>
            <a:r>
              <a:rPr lang="en-GB" sz="900" dirty="0"/>
              <a:t>Wilson, </a:t>
            </a:r>
            <a:r>
              <a:rPr lang="en-GB" sz="900" b="1" dirty="0"/>
              <a:t>Yu</a:t>
            </a:r>
            <a:r>
              <a:rPr lang="en-GB" sz="900" dirty="0"/>
              <a:t> et al., 2024, PMID: 38467609</a:t>
            </a:r>
          </a:p>
          <a:p>
            <a:pPr algn="ctr">
              <a:lnSpc>
                <a:spcPct val="150000"/>
              </a:lnSpc>
            </a:pPr>
            <a:r>
              <a:rPr lang="en-GB" sz="900" b="1" dirty="0"/>
              <a:t>Yu</a:t>
            </a:r>
            <a:r>
              <a:rPr lang="en-GB" sz="900" dirty="0"/>
              <a:t>, 2023, PMID: 37754354</a:t>
            </a:r>
          </a:p>
          <a:p>
            <a:pPr algn="ctr">
              <a:lnSpc>
                <a:spcPct val="150000"/>
              </a:lnSpc>
            </a:pPr>
            <a:r>
              <a:rPr lang="en-GB" sz="900" i="1" dirty="0"/>
              <a:t>And 10 other papers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6E84C41F-8709-4221-0437-08F2D254890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6740" r="13444" b="9776"/>
          <a:stretch>
            <a:fillRect/>
          </a:stretch>
        </p:blipFill>
        <p:spPr>
          <a:xfrm>
            <a:off x="5217534" y="3416346"/>
            <a:ext cx="2027078" cy="1632700"/>
          </a:xfrm>
          <a:prstGeom prst="rect">
            <a:avLst/>
          </a:prstGeom>
        </p:spPr>
      </p:pic>
      <p:pic>
        <p:nvPicPr>
          <p:cNvPr id="42" name="Google Shape;400;p58">
            <a:extLst>
              <a:ext uri="{FF2B5EF4-FFF2-40B4-BE49-F238E27FC236}">
                <a16:creationId xmlns:a16="http://schemas.microsoft.com/office/drawing/2014/main" id="{5A61EB38-BA8C-9C4D-E8FA-4EB74F883725}"/>
              </a:ext>
            </a:extLst>
          </p:cNvPr>
          <p:cNvPicPr preferRelativeResize="0"/>
          <p:nvPr/>
        </p:nvPicPr>
        <p:blipFill rotWithShape="1">
          <a:blip r:embed="rId8">
            <a:alphaModFix amt="8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682" t="4929" r="20012" b="10719"/>
          <a:stretch>
            <a:fillRect/>
          </a:stretch>
        </p:blipFill>
        <p:spPr>
          <a:xfrm>
            <a:off x="10109191" y="4003878"/>
            <a:ext cx="1982067" cy="148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EB324536-5E1F-4D5E-D04F-D806FA79711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0385" y="3408367"/>
            <a:ext cx="2540023" cy="14855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3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705</TotalTime>
  <Words>124</Words>
  <Application>Microsoft Macintosh PowerPoint</Application>
  <PresentationFormat>Widescreen</PresentationFormat>
  <Paragraphs>25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One Carbon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OneCarbon — Investor Deck</dc:title>
  <dc:subject>PptxGenJS Presentation</dc:subject>
  <dc:creator>Dr. Yi Zhou Yu</dc:creator>
  <cp:lastModifiedBy>Yizhou Yu</cp:lastModifiedBy>
  <cp:revision>483</cp:revision>
  <dcterms:created xsi:type="dcterms:W3CDTF">2026-06-04T09:23:35Z</dcterms:created>
  <dcterms:modified xsi:type="dcterms:W3CDTF">2026-07-10T00:01:37Z</dcterms:modified>
</cp:coreProperties>
</file>